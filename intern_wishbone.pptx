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7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ppt/slides/slide4.xml" ContentType="application/vnd.openxmlformats-officedocument.presentationml.slide+xml"/>
  <Override PartName="/ppt/viewProps.xml" ContentType="application/vnd.openxmlformats-officedocument.presentationml.viewProps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2754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5353658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219088596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3146686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396767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355475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52231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34716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96142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66219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0358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62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5E0EB3-A066-6243-5B35-1678FCC006DC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76242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37252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837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B585BA-F632-6024-7351-9EA10A3EA769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08647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3306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69531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4AC159-ADBC-7059-7EDC-07B2967D886F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4306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7123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365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E915273-1F4B-8AA4-7907-26FCF3D4F317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09002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50804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0379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39B968-2540-1A3E-C5F6-C4E6FD89114F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885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536609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0244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9E8847-8EE6-3467-64D6-9AEB2CC3860D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6976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0795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3948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9D1E2-AF6E-7F75-C523-C5BAB06901E1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21974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247364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3522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4A4D53-7070-286F-8FDC-6301BA41B973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96F4B03-9A92-E812-CE8B-BD512737A5AA}" type="slidenum">
              <a:rPr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0BB37A7-A0D5-6A91-6E51-814C590062B9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0288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1168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6480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4D2E264-94C1-C62D-47AC-0E9135150FD4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4874890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3108349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03982288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51665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2404247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8128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9616167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8951020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919578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463513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9571284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1617668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585584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3037906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66749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272933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6292102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0707408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5219024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6492847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1155208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896087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1406901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4077951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1557707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7836415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9571778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10141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2210646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177038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3192539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158795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1249352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38288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7477337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8759943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690150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39944510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3021774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111680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9064947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916703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2143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39418197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00922400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988850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684931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1513993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16387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7968237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754663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9586095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045276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132769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6586060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957739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3918188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6593027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842683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597478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4552382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453648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1647855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953043" name="Title 1"/>
          <p:cNvSpPr>
            <a:spLocks noGrp="1"/>
          </p:cNvSpPr>
          <p:nvPr>
            <p:ph type="ctrTitle"/>
          </p:nvPr>
        </p:nvSpPr>
        <p:spPr bwMode="auto">
          <a:xfrm>
            <a:off x="1523999" y="-100397"/>
            <a:ext cx="9144000" cy="2387599"/>
          </a:xfrm>
        </p:spPr>
        <p:txBody>
          <a:bodyPr/>
          <a:lstStyle/>
          <a:p>
            <a:pPr>
              <a:defRPr/>
            </a:pPr>
            <a:r>
              <a:rPr sz="48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Wishbone Bus Protocol</a:t>
            </a:r>
            <a:endParaRPr sz="480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650414891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9" y="3501774"/>
            <a:ext cx="9144000" cy="303204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algn="r">
              <a:defRPr/>
            </a:pPr>
            <a:r>
              <a:rPr lang="en-IN" sz="2800" b="1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Team Memebers</a:t>
            </a:r>
            <a:endParaRPr sz="2800" b="1"/>
          </a:p>
          <a:p>
            <a:pPr algn="r">
              <a:defRPr/>
            </a:pPr>
            <a:r>
              <a:rPr lang="en-IN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Sayooj S</a:t>
            </a:r>
            <a:endParaRPr sz="2800"/>
          </a:p>
          <a:p>
            <a:pPr algn="r">
              <a:defRPr/>
            </a:pPr>
            <a:r>
              <a:rPr lang="en-IN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MD Sameer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Ahmed</a:t>
            </a:r>
            <a:endParaRPr lang="en-US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r">
              <a:defRPr/>
            </a:pPr>
            <a:endParaRPr lang="en-US"/>
          </a:p>
          <a:p>
            <a:pPr algn="r">
              <a:defRPr/>
            </a:pPr>
            <a:endParaRPr lang="en-US"/>
          </a:p>
          <a:p>
            <a:pPr algn="ctr">
              <a:defRPr/>
            </a:pPr>
            <a:r>
              <a:rPr lang="en-US" sz="2600" b="1"/>
              <a:t>KL UNIVERSITY, Aziznagar, Hyderabad</a:t>
            </a:r>
            <a:endParaRPr lang="en-US" sz="28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1090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IN" sz="3600" b="1">
                <a:latin typeface="Times New Roman"/>
                <a:ea typeface="Times New Roman"/>
                <a:cs typeface="Times New Roman"/>
              </a:rPr>
              <a:t>Abstract</a:t>
            </a:r>
            <a:endParaRPr sz="3600" b="1">
              <a:latin typeface="Times New Roman"/>
              <a:cs typeface="Times New Roman"/>
            </a:endParaRPr>
          </a:p>
        </p:txBody>
      </p:sp>
      <p:sp>
        <p:nvSpPr>
          <p:cNvPr id="3146688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Open-source on-chip interconnect protocol</a:t>
            </a:r>
            <a:endParaRPr sz="2800"/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Enables communication between IP cores</a:t>
            </a:r>
            <a:endParaRPr sz="2800"/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Simple, flexible, and widely used in SoC design</a:t>
            </a:r>
            <a:endParaRPr sz="2800"/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Supports master-slave architecture</a:t>
            </a:r>
            <a:endParaRPr sz="2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711380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IN" sz="3600" b="1">
                <a:latin typeface="Times New Roman"/>
                <a:ea typeface="Times New Roman"/>
                <a:cs typeface="Times New Roman"/>
              </a:rPr>
              <a:t>Objective</a:t>
            </a:r>
            <a:endParaRPr sz="3600" b="1">
              <a:latin typeface="Times New Roman"/>
              <a:cs typeface="Times New Roman"/>
            </a:endParaRPr>
          </a:p>
        </p:txBody>
      </p:sp>
      <p:sp>
        <p:nvSpPr>
          <p:cNvPr id="30151885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Understand Wishbone protocol architecture</a:t>
            </a:r>
            <a:endParaRPr sz="2800"/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Implement basic master-slave communication</a:t>
            </a:r>
            <a:endParaRPr sz="2800"/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Simulate read/write transactions</a:t>
            </a:r>
            <a:endParaRPr sz="2800"/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Analyze timing and control signals</a:t>
            </a:r>
            <a:endParaRPr sz="2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6278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IN" sz="3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Introduction</a:t>
            </a:r>
            <a:endParaRPr sz="3600" b="1"/>
          </a:p>
        </p:txBody>
      </p:sp>
      <p:sp>
        <p:nvSpPr>
          <p:cNvPr id="18702312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Wishbone is a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hardware bus standard for SoC interconnection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800" b="0"/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Developed by the 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OpenCores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project.</a:t>
            </a:r>
            <a:endParaRPr sz="2800"/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Allows IP cores to communicate using a 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standard interface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800"/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Supports 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single read/write transactions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and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pipelined transfers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800"/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Commonly used in 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FPGA and ASIC designs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85217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80588" y="388198"/>
            <a:ext cx="10515600" cy="5446346"/>
          </a:xfrm>
        </p:spPr>
        <p:txBody>
          <a:bodyPr/>
          <a:lstStyle/>
          <a:p>
            <a:pPr>
              <a:defRPr/>
            </a:pPr>
            <a:r>
              <a:rPr lang="en-IN" b="1">
                <a:latin typeface="Times New Roman"/>
                <a:ea typeface="Times New Roman"/>
                <a:cs typeface="Times New Roman"/>
              </a:rPr>
              <a:t>Wishbone Ports and Functions</a:t>
            </a:r>
            <a:endParaRPr>
              <a:latin typeface="Times New Roman"/>
              <a:cs typeface="Times New Roman"/>
            </a:endParaRPr>
          </a:p>
          <a:p>
            <a:pPr>
              <a:defRPr/>
            </a:pPr>
            <a:endParaRPr>
              <a:latin typeface="Times New Roman"/>
              <a:cs typeface="Times New Roman"/>
            </a:endParaRPr>
          </a:p>
        </p:txBody>
      </p:sp>
      <p:graphicFrame>
        <p:nvGraphicFramePr>
          <p:cNvPr id="1656370919" name=""/>
          <p:cNvGraphicFramePr>
            <a:graphicFrameLocks xmlns:a="http://schemas.openxmlformats.org/drawingml/2006/main"/>
          </p:cNvGraphicFramePr>
          <p:nvPr/>
        </p:nvGraphicFramePr>
        <p:xfrm>
          <a:off x="772192" y="891815"/>
          <a:ext cx="10647615" cy="5942378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1170000"/>
                <a:gridCol w="1530000"/>
                <a:gridCol w="7934915"/>
              </a:tblGrid>
              <a:tr h="513323"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Signals</a:t>
                      </a:r>
                      <a:endParaRPr lang="en-IN" sz="22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Type</a:t>
                      </a:r>
                      <a:endParaRPr lang="en-IN" sz="22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Description</a:t>
                      </a:r>
                      <a:endParaRPr lang="en-IN" sz="22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/>
                </a:tc>
              </a:tr>
              <a:tr h="513323"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clk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Input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System clock used to synchronize bus operations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</a:tr>
              <a:tr h="547774"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rst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Input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Resets the master/slave modules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</a:tr>
              <a:tr h="513323"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cyc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Control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Indicates that a valid bus cycle is in progress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</a:tr>
              <a:tr h="513323"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stb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Control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Strobe signal showing a valid data transfer request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</a:tr>
              <a:tr h="513323"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we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Control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Write enable signal (1 = write, 0 = read)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</a:tr>
              <a:tr h="513323"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ack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Response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Acknowledge signal from slave confirming completion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</a:tr>
              <a:tr h="513323"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adr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Address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Address bus used to select slave register/memory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</a:tr>
              <a:tr h="513323"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Dat_i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Data Input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Data sent from slave to master (read operation)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</a:tr>
              <a:tr h="513323"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Dat_o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Data Output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Data sent from master to slave (write operation)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</a:tr>
              <a:tr h="513323"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sel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N" sz="2200">
                          <a:latin typeface="Times New Roman"/>
                          <a:ea typeface="Times New Roman"/>
                          <a:cs typeface="Times New Roman"/>
                        </a:rPr>
                        <a:t>Select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Byte select lines for data bus</a:t>
                      </a: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9852699" name="Title 1"/>
          <p:cNvSpPr>
            <a:spLocks noGrp="1"/>
          </p:cNvSpPr>
          <p:nvPr>
            <p:ph type="title"/>
          </p:nvPr>
        </p:nvSpPr>
        <p:spPr bwMode="auto">
          <a:xfrm>
            <a:off x="838198" y="84869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IN" sz="3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Block Diagram</a:t>
            </a:r>
            <a:endParaRPr sz="3600" b="1"/>
          </a:p>
        </p:txBody>
      </p:sp>
      <p:pic>
        <p:nvPicPr>
          <p:cNvPr id="61766113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967403" y="1099038"/>
            <a:ext cx="5535865" cy="55670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42922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IN" sz="3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Code Implementation</a:t>
            </a:r>
            <a:endParaRPr sz="3600" b="1"/>
          </a:p>
        </p:txBody>
      </p:sp>
      <p:sp>
        <p:nvSpPr>
          <p:cNvPr id="192047564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https://www.edaplayground.com/x/TT2e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36172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IN" sz="3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Output </a:t>
            </a:r>
            <a:endParaRPr sz="3600" b="1"/>
          </a:p>
        </p:txBody>
      </p:sp>
      <p:pic>
        <p:nvPicPr>
          <p:cNvPr id="164597800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8259" y="1423418"/>
            <a:ext cx="11898884" cy="27040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44496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-44282"/>
            <a:ext cx="10515600" cy="1102937"/>
          </a:xfrm>
        </p:spPr>
        <p:txBody>
          <a:bodyPr/>
          <a:lstStyle/>
          <a:p>
            <a:pPr>
              <a:defRPr/>
            </a:pPr>
            <a:r>
              <a:rPr lang="en-IN" sz="3600" b="1">
                <a:latin typeface="Times New Roman"/>
                <a:ea typeface="Times New Roman"/>
                <a:cs typeface="Times New Roman"/>
              </a:rPr>
              <a:t>Comparisons</a:t>
            </a:r>
            <a:endParaRPr sz="3600" b="1">
              <a:latin typeface="Times New Roman"/>
              <a:cs typeface="Times New Roman"/>
            </a:endParaRPr>
          </a:p>
        </p:txBody>
      </p:sp>
      <p:graphicFrame>
        <p:nvGraphicFramePr>
          <p:cNvPr id="300412495" name=""/>
          <p:cNvGraphicFramePr>
            <a:graphicFrameLocks xmlns:a="http://schemas.openxmlformats.org/drawingml/2006/main"/>
          </p:cNvGraphicFramePr>
          <p:nvPr>
            <p:ph idx="1"/>
          </p:nvPr>
        </p:nvGraphicFramePr>
        <p:xfrm>
          <a:off x="123657" y="1190624"/>
          <a:ext cx="11933841" cy="5390707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384228"/>
                <a:gridCol w="2384228"/>
                <a:gridCol w="2384228"/>
                <a:gridCol w="2384228"/>
                <a:gridCol w="2384228"/>
              </a:tblGrid>
              <a:tr h="453350"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Parameter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Wishbone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UART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APB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AXI</a:t>
                      </a:r>
                      <a:endParaRPr sz="2800"/>
                    </a:p>
                  </a:txBody>
                  <a:tcPr/>
                </a:tc>
              </a:tr>
              <a:tr h="1081733"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Purpose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On-chip interconnect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Serial communication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Peripheral bus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High-performance interconnect</a:t>
                      </a:r>
                      <a:endParaRPr sz="2800"/>
                    </a:p>
                  </a:txBody>
                  <a:tcPr/>
                </a:tc>
              </a:tr>
              <a:tr h="1062242"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Speed / Performance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Medium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Very Low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Very High</a:t>
                      </a:r>
                      <a:endParaRPr sz="2800"/>
                    </a:p>
                  </a:txBody>
                  <a:tcPr/>
                </a:tc>
              </a:tr>
              <a:tr h="453350"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Data Type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Parallel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Serial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Parallel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Parallel</a:t>
                      </a:r>
                      <a:endParaRPr sz="2800"/>
                    </a:p>
                  </a:txBody>
                  <a:tcPr/>
                </a:tc>
              </a:tr>
              <a:tr h="453350"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Complexity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Moderate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Very Low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Very Low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 sz="2800"/>
                    </a:p>
                  </a:txBody>
                  <a:tcPr/>
                </a:tc>
              </a:tr>
              <a:tr h="1389685"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Key Feature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Simple, open standard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Minimal hardware, long-distance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Low-power peripheral access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8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Burst + pipelining + multi-channel</a:t>
                      </a:r>
                      <a:endParaRPr sz="280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514034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IN" sz="3600" b="1">
                <a:latin typeface="Times New Roman"/>
                <a:ea typeface="Times New Roman"/>
                <a:cs typeface="Times New Roman"/>
              </a:rPr>
              <a:t>Advatages</a:t>
            </a:r>
            <a:endParaRPr>
              <a:latin typeface="Times New Roman"/>
              <a:cs typeface="Times New Roman"/>
            </a:endParaRPr>
          </a:p>
        </p:txBody>
      </p:sp>
      <p:sp>
        <p:nvSpPr>
          <p:cNvPr id="12675999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sz="2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Simple architecture</a:t>
            </a:r>
            <a:br>
              <a:rPr sz="2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</a:b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Easy to design, implement, and debug. </a:t>
            </a:r>
            <a:endParaRPr sz="2800"/>
          </a:p>
          <a:p>
            <a:pPr>
              <a:defRPr/>
            </a:pPr>
            <a:r>
              <a:rPr sz="2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Open standard</a:t>
            </a:r>
            <a:br>
              <a:rPr sz="2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</a:b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No licensing or royalty issues (unlike 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ARM Holdings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AMBA protocols). </a:t>
            </a:r>
            <a:endParaRPr sz="2800"/>
          </a:p>
          <a:p>
            <a:pPr>
              <a:defRPr/>
            </a:pPr>
            <a:r>
              <a:rPr sz="2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Easy IP integration</a:t>
            </a:r>
            <a:br>
              <a:rPr sz="2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</a:b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Standard interface allows quick connection of modules. </a:t>
            </a:r>
            <a:endParaRPr sz="2800"/>
          </a:p>
          <a:p>
            <a:pPr>
              <a:defRPr/>
            </a:pPr>
            <a:r>
              <a:rPr sz="2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Low overhead</a:t>
            </a:r>
            <a:br>
              <a:rPr sz="2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</a:b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Minimal control logic → smaller area and power usage.</a:t>
            </a:r>
            <a:endParaRPr sz="2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22034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IN" sz="3600" b="1">
                <a:latin typeface="Times New Roman"/>
                <a:ea typeface="Times New Roman"/>
                <a:cs typeface="Times New Roman"/>
              </a:rPr>
              <a:t>Disadvantages</a:t>
            </a:r>
            <a:endParaRPr sz="3600" b="1">
              <a:latin typeface="Times New Roman"/>
              <a:cs typeface="Times New Roman"/>
            </a:endParaRPr>
          </a:p>
        </p:txBody>
      </p:sp>
      <p:sp>
        <p:nvSpPr>
          <p:cNvPr id="128213297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sz="2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Lower performance</a:t>
            </a:r>
            <a:br>
              <a:rPr sz="2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</a:b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No advanced features like burst transfers or pipelining (compared to AXI). </a:t>
            </a:r>
            <a:endParaRPr sz="2800"/>
          </a:p>
          <a:p>
            <a:pPr>
              <a:defRPr/>
            </a:pPr>
            <a:r>
              <a:rPr sz="2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Limited scalability</a:t>
            </a:r>
            <a:br>
              <a:rPr sz="2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</a:b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Not ideal for large, complex SoCs. </a:t>
            </a:r>
            <a:endParaRPr sz="2800"/>
          </a:p>
          <a:p>
            <a:pPr>
              <a:defRPr/>
            </a:pPr>
            <a:r>
              <a:rPr sz="2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Less industry adoption</a:t>
            </a:r>
            <a:br>
              <a:rPr sz="2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</a:b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Fewer commercial IPs compared to AMBA-based systems.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605848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sz="3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Conclusion</a:t>
            </a:r>
            <a:endParaRPr sz="3600" b="1"/>
          </a:p>
        </p:txBody>
      </p:sp>
      <p:sp>
        <p:nvSpPr>
          <p:cNvPr id="168579119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Successfully implemented </a:t>
            </a:r>
            <a:r>
              <a:rPr sz="2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basic Wishbone protocol communication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800"/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Verified </a:t>
            </a:r>
            <a:r>
              <a:rPr sz="2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read and write operations using simulation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800"/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Useful for </a:t>
            </a:r>
            <a:r>
              <a:rPr sz="2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open-source hardware development and FPGA projects</a:t>
            </a:r>
            <a:r>
              <a:rPr sz="2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ONLYOFFICE/8.3.3.21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2026-04-22T13:53:59Z</dcterms:modified>
</cp:coreProperties>
</file>