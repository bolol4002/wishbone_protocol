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9498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51159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168157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590225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732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6612222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0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0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9220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578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9344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129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5E0EB3-A066-6243-5B35-1678FCC006DC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10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057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75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B585BA-F632-6024-7351-9EA10A3EA76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849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084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519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4AC159-ADBC-7059-7EDC-07B2967D886F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08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416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510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915273-1F4B-8AA4-7907-26FCF3D4F31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411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711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0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39B968-2540-1A3E-C5F6-C4E6FD89114F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765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9748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995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E8847-8EE6-3467-64D6-9AEB2CC3860D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391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9031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992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9D1E2-AF6E-7F75-C523-C5BAB06901E1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A4D53-7070-286F-8FDC-6301BA41B973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918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1304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682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D2E264-94C1-C62D-47AC-0E9135150FD4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0549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267418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35315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81103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578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203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22357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8974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8437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5865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74747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16378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07192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05156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5755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56875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31846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89424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48653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0058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8341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71336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50492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471642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875686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38667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21009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76467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585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580304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819352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9452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00041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79901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33247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0474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249671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19379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4126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048609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65624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96163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401103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829709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30247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07538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16335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3050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28897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92401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23418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88918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0691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40837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8755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58265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37372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40914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48759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0672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7123505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897479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337225" name="Title 1"/>
          <p:cNvSpPr>
            <a:spLocks noGrp="1"/>
          </p:cNvSpPr>
          <p:nvPr>
            <p:ph type="ctrTitle"/>
          </p:nvPr>
        </p:nvSpPr>
        <p:spPr bwMode="auto">
          <a:xfrm>
            <a:off x="1523999" y="-100397"/>
            <a:ext cx="9144000" cy="2387599"/>
          </a:xfrm>
        </p:spPr>
        <p:txBody>
          <a:bodyPr/>
          <a:lstStyle/>
          <a:p>
            <a:pPr>
              <a:defRPr/>
            </a:pPr>
            <a:r>
              <a:rPr sz="48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Wishbone Bus Protocol</a:t>
            </a:r>
            <a:endParaRPr sz="48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397892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501774"/>
            <a:ext cx="9144000" cy="30320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r">
              <a:defRPr/>
            </a:pPr>
            <a:r>
              <a:rPr lang="en-IN" sz="2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 Memebers</a:t>
            </a:r>
            <a:endParaRPr sz="2800" b="1"/>
          </a:p>
          <a:p>
            <a:pPr algn="r">
              <a:defRPr/>
            </a:pPr>
            <a:r>
              <a:rPr lang="en-IN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Sayooj S</a:t>
            </a:r>
            <a:endParaRPr sz="2800"/>
          </a:p>
          <a:p>
            <a:pPr algn="r">
              <a:defRPr/>
            </a:pPr>
            <a:r>
              <a:rPr lang="en-IN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MD Sameer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Ahmed</a:t>
            </a:r>
            <a:endParaRPr lang="en-US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r">
              <a:defRPr/>
            </a:pPr>
            <a:endParaRPr lang="en-US"/>
          </a:p>
          <a:p>
            <a:pPr algn="r">
              <a:defRPr/>
            </a:pPr>
            <a:endParaRPr lang="en-US"/>
          </a:p>
          <a:p>
            <a:pPr algn="ctr">
              <a:defRPr/>
            </a:pPr>
            <a:r>
              <a:rPr lang="en-US" sz="2600" b="1"/>
              <a:t>KL UNIVERSITY, Aziznagar, Hyderabad</a:t>
            </a:r>
            <a:endParaRPr lang="en-US"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6765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3600" b="1">
                <a:latin typeface="Times New Roman"/>
                <a:ea typeface="Times New Roman"/>
                <a:cs typeface="Times New Roman"/>
              </a:rPr>
              <a:t>Abstract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4607619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Open-source on-chip interconnect protocol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Enables communication between IP cores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Simple, flexible, and widely used in SoC design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master-slave architecture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4371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3600" b="1">
                <a:latin typeface="Times New Roman"/>
                <a:ea typeface="Times New Roman"/>
                <a:cs typeface="Times New Roman"/>
              </a:rPr>
              <a:t>Objective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16570271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Understand Wishbone protocol architecture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 basic master-slave communication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Simulate read/write transactions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Analyze timing and control signals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6850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3600" b="1"/>
          </a:p>
        </p:txBody>
      </p:sp>
      <p:sp>
        <p:nvSpPr>
          <p:cNvPr id="11185889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Wishbone is a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hardware bus standard for SoC interconnection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 b="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Developed by the 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OpenCores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project.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Allows IP cores to communicate using a 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standard interface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single read/write transactions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pipelined transfers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Commonly used in 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FPGA and ASIC designs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64543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80588" y="388198"/>
            <a:ext cx="10515600" cy="5446346"/>
          </a:xfrm>
        </p:spPr>
        <p:txBody>
          <a:bodyPr/>
          <a:lstStyle/>
          <a:p>
            <a:pPr>
              <a:defRPr/>
            </a:pPr>
            <a:r>
              <a:rPr lang="en-IN" b="1">
                <a:latin typeface="Times New Roman"/>
                <a:ea typeface="Times New Roman"/>
                <a:cs typeface="Times New Roman"/>
              </a:rPr>
              <a:t>Wishbone Ports and Functions</a:t>
            </a:r>
            <a:endParaRPr>
              <a:latin typeface="Times New Roman"/>
              <a:cs typeface="Times New Roman"/>
            </a:endParaRPr>
          </a:p>
          <a:p>
            <a:pPr>
              <a:defRPr/>
            </a:pPr>
            <a:endParaRPr>
              <a:latin typeface="Times New Roman"/>
              <a:cs typeface="Times New Roman"/>
            </a:endParaRPr>
          </a:p>
        </p:txBody>
      </p:sp>
      <p:graphicFrame>
        <p:nvGraphicFramePr>
          <p:cNvPr id="529615159" name=""/>
          <p:cNvGraphicFramePr>
            <a:graphicFrameLocks xmlns:a="http://schemas.openxmlformats.org/drawingml/2006/main"/>
          </p:cNvGraphicFramePr>
          <p:nvPr/>
        </p:nvGraphicFramePr>
        <p:xfrm>
          <a:off x="772192" y="891815"/>
          <a:ext cx="10647615" cy="594237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170000"/>
                <a:gridCol w="1530000"/>
                <a:gridCol w="7934915"/>
              </a:tblGrid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Signals</a:t>
                      </a:r>
                      <a:endParaRPr lang="en-IN" sz="2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Type</a:t>
                      </a:r>
                      <a:endParaRPr lang="en-IN" sz="2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IN" sz="2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clk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Input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 clock used to synchronize bus operations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47774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rst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Input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Resets the master/slave modules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cyc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Control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Indicates that a valid bus cycle is in progress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stb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Control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Strobe signal showing a valid data transfer request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we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Control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Write enable signal (1 = write, 0 = read)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ack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Response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Acknowledge signal from slave confirming completion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adr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Address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Address bus used to select slave register/memory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Dat_i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Data Input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sent from slave to master (read operation)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Dat_o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Data Output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sent from master to slave (write operation)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  <a:tr h="513323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sel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2200">
                          <a:latin typeface="Times New Roman"/>
                          <a:ea typeface="Times New Roman"/>
                          <a:cs typeface="Times New Roman"/>
                        </a:rPr>
                        <a:t>Select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Byte select lines for data bus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120260" name="Title 1"/>
          <p:cNvSpPr>
            <a:spLocks noGrp="1"/>
          </p:cNvSpPr>
          <p:nvPr>
            <p:ph type="title"/>
          </p:nvPr>
        </p:nvSpPr>
        <p:spPr bwMode="auto">
          <a:xfrm>
            <a:off x="838198" y="8486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IN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Block Diagram</a:t>
            </a:r>
            <a:endParaRPr sz="3600" b="1"/>
          </a:p>
        </p:txBody>
      </p:sp>
      <p:pic>
        <p:nvPicPr>
          <p:cNvPr id="11429021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67403" y="1099038"/>
            <a:ext cx="5535865" cy="5567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0813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Code Implementation</a:t>
            </a:r>
            <a:endParaRPr sz="3600" b="1"/>
          </a:p>
        </p:txBody>
      </p:sp>
      <p:sp>
        <p:nvSpPr>
          <p:cNvPr id="7077351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https://www.edaplayground.com/x/TT2e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542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 </a:t>
            </a:r>
            <a:endParaRPr sz="3600" b="1"/>
          </a:p>
        </p:txBody>
      </p:sp>
      <p:pic>
        <p:nvPicPr>
          <p:cNvPr id="4656356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259" y="1423418"/>
            <a:ext cx="11898884" cy="2704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4995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-44282"/>
            <a:ext cx="10515600" cy="1102937"/>
          </a:xfrm>
        </p:spPr>
        <p:txBody>
          <a:bodyPr/>
          <a:lstStyle/>
          <a:p>
            <a:pPr>
              <a:defRPr/>
            </a:pPr>
            <a:r>
              <a:rPr lang="en-IN" sz="3600" b="1">
                <a:latin typeface="Times New Roman"/>
                <a:ea typeface="Times New Roman"/>
                <a:cs typeface="Times New Roman"/>
              </a:rPr>
              <a:t>Comparisons</a:t>
            </a:r>
            <a:endParaRPr sz="3600" b="1">
              <a:latin typeface="Times New Roman"/>
              <a:cs typeface="Times New Roman"/>
            </a:endParaRPr>
          </a:p>
        </p:txBody>
      </p:sp>
      <p:graphicFrame>
        <p:nvGraphicFramePr>
          <p:cNvPr id="184446403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>
          <a:off x="123657" y="1190624"/>
          <a:ext cx="11933841" cy="539070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84228"/>
                <a:gridCol w="2384228"/>
                <a:gridCol w="2384228"/>
                <a:gridCol w="2384228"/>
                <a:gridCol w="2384228"/>
              </a:tblGrid>
              <a:tr h="453350"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Wishbone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UART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APB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AXI</a:t>
                      </a:r>
                      <a:endParaRPr sz="2800"/>
                    </a:p>
                  </a:txBody>
                  <a:tcPr/>
                </a:tc>
              </a:tr>
              <a:tr h="1081733"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On-chip interconnect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Serial communication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Peripheral bus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High-performance interconnect</a:t>
                      </a:r>
                      <a:endParaRPr sz="2800"/>
                    </a:p>
                  </a:txBody>
                  <a:tcPr/>
                </a:tc>
              </a:tr>
              <a:tr h="1062242"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/ Performance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Medium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 Low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 High</a:t>
                      </a:r>
                      <a:endParaRPr sz="2800"/>
                    </a:p>
                  </a:txBody>
                  <a:tcPr/>
                </a:tc>
              </a:tr>
              <a:tr h="453350"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Type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Parallel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Serial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Parallel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Parallel</a:t>
                      </a:r>
                      <a:endParaRPr sz="2800"/>
                    </a:p>
                  </a:txBody>
                  <a:tcPr/>
                </a:tc>
              </a:tr>
              <a:tr h="453350"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Complexity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Moderate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 Low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 Low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 sz="2800"/>
                    </a:p>
                  </a:txBody>
                  <a:tcPr/>
                </a:tc>
              </a:tr>
              <a:tr h="1389685"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Feature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Simple, open standard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Minimal hardware, long-distance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Low-power peripheral access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8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Burst + pipelining + multi-channel</a:t>
                      </a:r>
                      <a:endParaRPr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3923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sz="3600" b="1"/>
          </a:p>
        </p:txBody>
      </p:sp>
      <p:sp>
        <p:nvSpPr>
          <p:cNvPr id="6160506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Successfully implemented </a:t>
            </a: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basic Wishbone protocol communication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Verified </a:t>
            </a: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read and write operations using simulation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Useful for </a:t>
            </a: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open-source hardware development and FPGA projects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2026-04-15T13:08:45Z</dcterms:modified>
</cp:coreProperties>
</file>