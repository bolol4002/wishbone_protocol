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C3AE7AE-9F80-478B-8975-B563DAAC249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50F625F-FCF6-4FD3-B593-3D7DCE9058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lang="en-US" sz="1200" b="0" u="none" strike="noStrike">
              <a:solidFill>
                <a:schemeClr val="dk1"/>
              </a:solidFill>
              <a:effectLst/>
              <a:uFillTx/>
              <a:latin typeface="+mn-lt"/>
              <a:ea typeface="+mn-ea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lang="en-US" sz="1200" b="0" u="none" strike="noStrike">
              <a:solidFill>
                <a:schemeClr val="dk1"/>
              </a:solidFill>
              <a:effectLst/>
              <a:uFillTx/>
              <a:latin typeface="+mn-lt"/>
              <a:ea typeface="+mn-ea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lang="en-US" sz="1200" b="0" u="none" strike="noStrike">
              <a:solidFill>
                <a:schemeClr val="dk1"/>
              </a:solidFill>
              <a:effectLst/>
              <a:uFillTx/>
              <a:latin typeface="+mn-lt"/>
              <a:ea typeface="+mn-ea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lang="en-US" sz="1200" b="0" u="none" strike="noStrike">
              <a:solidFill>
                <a:schemeClr val="dk1"/>
              </a:solidFill>
              <a:effectLst/>
              <a:uFillTx/>
              <a:latin typeface="+mn-lt"/>
              <a:ea typeface="+mn-ea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lang="en-US" sz="1200" b="0" u="none" strike="noStrike">
              <a:solidFill>
                <a:schemeClr val="dk1"/>
              </a:solidFill>
              <a:effectLst/>
              <a:uFillTx/>
              <a:latin typeface="+mn-lt"/>
              <a:ea typeface="+mn-ea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lang="en-US" sz="1200" b="0" u="none" strike="noStrike">
              <a:solidFill>
                <a:schemeClr val="dk1"/>
              </a:solidFill>
              <a:effectLst/>
              <a:uFillTx/>
              <a:latin typeface="+mn-lt"/>
              <a:ea typeface="+mn-ea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lang="en-US" sz="1200" b="0" u="none" strike="noStrike">
              <a:solidFill>
                <a:schemeClr val="dk1"/>
              </a:solidFill>
              <a:effectLst/>
              <a:uFillTx/>
              <a:latin typeface="+mn-lt"/>
              <a:ea typeface="+mn-ea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lang="en-US" sz="1200" b="0" u="none" strike="noStrike">
              <a:solidFill>
                <a:schemeClr val="dk1"/>
              </a:solidFill>
              <a:effectLst/>
              <a:uFillTx/>
              <a:latin typeface="+mn-lt"/>
              <a:ea typeface="+mn-ea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lang="en-US" sz="1200" b="0" u="none" strike="noStrike">
              <a:solidFill>
                <a:schemeClr val="dk1"/>
              </a:solidFill>
              <a:effectLst/>
              <a:uFillTx/>
              <a:latin typeface="+mn-lt"/>
              <a:ea typeface="+mn-ea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lang="en-US" sz="1200" b="0" u="none" strike="noStrike">
              <a:solidFill>
                <a:schemeClr val="dk1"/>
              </a:solidFill>
              <a:effectLst/>
              <a:uFillTx/>
              <a:latin typeface="+mn-lt"/>
              <a:ea typeface="+mn-ea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>
              <a:buNone/>
            </a:pPr>
            <a:endParaRPr lang="en-US" sz="1200" b="0" u="none" strike="noStrike">
              <a:solidFill>
                <a:schemeClr val="dk1"/>
              </a:solidFill>
              <a:effectLst/>
              <a:uFillTx/>
              <a:latin typeface="+mn-lt"/>
              <a:ea typeface="+mn-ea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to edit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Maste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r title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9CDD7AB-27E1-4FED-9296-9FBB678A14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CE97936-D12C-40AA-8FE9-CCC2101154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441B46F-5C62-4771-86EE-161CDA3C931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424937-6437-4E10-8364-EB6C64BB959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to edit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Maste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r title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A4E353E-6112-4E22-871E-509AFA0DFFC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35EAC3-4E3B-4A69-9219-133019D67ED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05B11B6-6124-4EA3-8AF1-2C24117FB5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FAF2876-0C97-4E56-8130-781277E7963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A9982B2-F276-4E16-9E49-B0ECD3998D5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4A9EFD3-5405-494E-9469-4959D53B9A8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25AE0E2-8BE1-48DC-A9AD-3CEF7F46205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523880" y="-10044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48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Wishbone Bus Protocol</a:t>
            </a:r>
            <a:endParaRPr lang="en-US" sz="48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ubTitle"/>
          </p:nvPr>
        </p:nvSpPr>
        <p:spPr>
          <a:xfrm>
            <a:off x="1523880" y="3501720"/>
            <a:ext cx="9143640" cy="3031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rmAutofit/>
          </a:bodyPr>
          <a:p>
            <a:pPr indent="0" algn="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IN" sz="2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Team Memebers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IN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Sayooj 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IN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MD Sameer</a:t>
            </a: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 Ahmed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6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KL UNIVERSITY, Aziznagar, Hyderabad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IN" sz="3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Abstract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Open-source on-chip interconnect protocol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Enables communication between IP cores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Simple, flexible, and widely used in SoC design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Supports master-slave architecture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IN" sz="3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Objective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Understand Wishbone protocol architecture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Implement basic master-slave communication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Simulate read/write transactions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Analyze timing and control signals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IN" sz="3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Introduction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Wishbone is a hardware bus standard for SoC interconnection.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Developed by the OpenCores project.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Allows IP cores to communicate using a standard interface.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Supports single read/write transactions and pipelined transfers.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Commonly used in FPGA and ASIC designs.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/>
          </p:nvPr>
        </p:nvSpPr>
        <p:spPr>
          <a:xfrm>
            <a:off x="380520" y="388080"/>
            <a:ext cx="10515240" cy="544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IN" sz="28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Wishbone Ports and Functions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5" name=""/>
          <p:cNvGraphicFramePr/>
          <p:nvPr/>
        </p:nvGraphicFramePr>
        <p:xfrm>
          <a:off x="772200" y="891720"/>
          <a:ext cx="10634400" cy="5926680"/>
        </p:xfrm>
        <a:graphic>
          <a:graphicData uri="http://schemas.openxmlformats.org/drawingml/2006/table">
            <a:tbl>
              <a:tblPr/>
              <a:tblGrid>
                <a:gridCol w="1170000"/>
                <a:gridCol w="1530000"/>
                <a:gridCol w="7934760"/>
              </a:tblGrid>
              <a:tr h="513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Signals</a:t>
                      </a:r>
                      <a:endParaRPr lang="en-US" sz="2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Type</a:t>
                      </a:r>
                      <a:endParaRPr lang="en-US" sz="2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Description</a:t>
                      </a:r>
                      <a:endParaRPr lang="en-US" sz="2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13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clk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Input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System clock used to synchronize bus operations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475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rst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Input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Resets the master/slave modules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13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cyc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Control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Indicates that a valid bus cycle is in progress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13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stb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Control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Strobe signal showing a valid data transfer request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13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we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Control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Write enable signal (1 = write, 0 = read)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13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ack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Response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Acknowledge signal from slave confirming completion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13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adr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Address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Address bus used to select slave register/memory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13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Dat_i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Data Input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Data sent from slave to master (read operation)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13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Dat_o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Data Output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Data sent from master to slave (write operation)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13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sel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IN" sz="2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Select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Byte select lines for data bus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838080" y="8496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IN" sz="3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Block Diagram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77" name=""/>
          <p:cNvPicPr/>
          <p:nvPr/>
        </p:nvPicPr>
        <p:blipFill>
          <a:blip r:embed="rId1"/>
          <a:stretch/>
        </p:blipFill>
        <p:spPr>
          <a:xfrm>
            <a:off x="2967480" y="1099080"/>
            <a:ext cx="5535360" cy="5566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IN" sz="3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Code Implementation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https://www.edaplayground.com/x/TT2e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IN" sz="3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Output 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81" name=""/>
          <p:cNvPicPr/>
          <p:nvPr/>
        </p:nvPicPr>
        <p:blipFill>
          <a:blip r:embed="rId1"/>
          <a:stretch/>
        </p:blipFill>
        <p:spPr>
          <a:xfrm>
            <a:off x="68400" y="1423440"/>
            <a:ext cx="11898360" cy="270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-44280"/>
            <a:ext cx="10515240" cy="110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IN" sz="3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Comparisons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3" name=""/>
          <p:cNvGraphicFramePr/>
          <p:nvPr/>
        </p:nvGraphicFramePr>
        <p:xfrm>
          <a:off x="123480" y="1190520"/>
          <a:ext cx="11920680" cy="5380560"/>
        </p:xfrm>
        <a:graphic>
          <a:graphicData uri="http://schemas.openxmlformats.org/drawingml/2006/table">
            <a:tbl>
              <a:tblPr/>
              <a:tblGrid>
                <a:gridCol w="2383920"/>
                <a:gridCol w="2383920"/>
                <a:gridCol w="2383920"/>
                <a:gridCol w="2383920"/>
                <a:gridCol w="2383920"/>
              </a:tblGrid>
              <a:tr h="4532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Parameter</a:t>
                      </a:r>
                      <a:endParaRPr lang="en-US" sz="2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Wishbone</a:t>
                      </a:r>
                      <a:endParaRPr lang="en-US" sz="2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UART</a:t>
                      </a:r>
                      <a:endParaRPr lang="en-US" sz="2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APB</a:t>
                      </a:r>
                      <a:endParaRPr lang="en-US" sz="2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AXI</a:t>
                      </a:r>
                      <a:endParaRPr lang="en-US" sz="2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10814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Purpose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On-chip interconnect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Serial communication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Peripheral bus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High-performance interconnect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1062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Speed / Performance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Medium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Very Low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Low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Very High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532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Data Type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Parallel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Serial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Parallel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Parallel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532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Complexity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Moderate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Very Low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Very Low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High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13896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Key Feature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Simple, open standard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Minimal hardware, long-distance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Low-power peripheral access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2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Burst + pipelining + multi-channel</a:t>
                      </a:r>
                      <a:endParaRPr lang="en-US" sz="2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IN" sz="3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Advatages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Simple architecture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Easy to design, implement, and debug.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Open standard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No licensing or royalty issues (unlike ARM Holdings AMBA protocols).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Easy IP integration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Standard interface allows quick connection of modules.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Low overhead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Minimal control logic → smaller area and power usage.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IN" sz="3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Times New Roman"/>
              </a:rPr>
              <a:t>Disadvantages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Lower performance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No advanced features like burst transfers or pipelining (compared to AXI).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Limited scalability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Not ideal for large, complex SoCs.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Less industry adoption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Fewer commercial IPs compared to AMBA-based systems.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Conclusion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Successfully implemented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basic Wishbone protocol communication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Verified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read and write operations using simulation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Useful for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open-source hardware development and FPGA projects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100</TotalTime>
  <Application>LibreOffice/25.8.6.2$Linux_X86_64 LibreOffice_project/580$Build-2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2026-04-30T18:39:55Z</dcterms:modified>
  <cp:revision>10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12</vt:i4>
  </property>
  <property fmtid="{D5CDD505-2E9C-101B-9397-08002B2CF9AE}" pid="4" name="PresentationFormat">
    <vt:lpwstr>On-screen Show (4:3)</vt:lpwstr>
  </property>
  <property fmtid="{D5CDD505-2E9C-101B-9397-08002B2CF9AE}" pid="5" name="Slides">
    <vt:i4>12</vt:i4>
  </property>
</Properties>
</file>